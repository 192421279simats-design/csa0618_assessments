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317" r:id="rId3"/>
    <p:sldId id="258" r:id="rId4"/>
    <p:sldId id="313" r:id="rId5"/>
    <p:sldId id="260" r:id="rId6"/>
    <p:sldId id="295" r:id="rId7"/>
    <p:sldId id="318" r:id="rId8"/>
    <p:sldId id="320" r:id="rId9"/>
    <p:sldId id="319" r:id="rId10"/>
    <p:sldId id="321" r:id="rId11"/>
    <p:sldId id="323" r:id="rId12"/>
    <p:sldId id="322" r:id="rId13"/>
    <p:sldId id="285" r:id="rId14"/>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89542" autoAdjust="0"/>
  </p:normalViewPr>
  <p:slideViewPr>
    <p:cSldViewPr>
      <p:cViewPr varScale="1">
        <p:scale>
          <a:sx n="74" d="100"/>
          <a:sy n="74" d="100"/>
        </p:scale>
        <p:origin x="1042"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B6ED615C-D27F-4F4A-82E4-F735EC3476BB}" type="datetimeFigureOut">
              <a:rPr lang="en-IN" smtClean="0"/>
              <a:t>02-08-2026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44B58C39-51B5-4297-B191-C92F1AB4DC0E}" type="slidenum">
              <a:rPr lang="en-IN" smtClean="0"/>
              <a:t>‹#›</a:t>
            </a:fld>
            <a:endParaRPr lang="en-IN"/>
          </a:p>
        </p:txBody>
      </p:sp>
    </p:spTree>
    <p:extLst>
      <p:ext uri="{BB962C8B-B14F-4D97-AF65-F5344CB8AC3E}">
        <p14:creationId xmlns:p14="http://schemas.microsoft.com/office/powerpoint/2010/main" val="40179393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4B58C39-51B5-4297-B191-C92F1AB4DC0E}" type="slidenum">
              <a:rPr lang="en-IN" smtClean="0"/>
              <a:t>6</a:t>
            </a:fld>
            <a:endParaRPr lang="en-IN"/>
          </a:p>
        </p:txBody>
      </p:sp>
    </p:spTree>
    <p:extLst>
      <p:ext uri="{BB962C8B-B14F-4D97-AF65-F5344CB8AC3E}">
        <p14:creationId xmlns:p14="http://schemas.microsoft.com/office/powerpoint/2010/main" val="25339979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706887" y="1471811"/>
            <a:ext cx="2835275" cy="695960"/>
          </a:xfrm>
          <a:prstGeom prst="rect">
            <a:avLst/>
          </a:prstGeom>
        </p:spPr>
        <p:txBody>
          <a:bodyPr wrap="square" lIns="0" tIns="0" rIns="0" bIns="0">
            <a:spAutoFit/>
          </a:bodyPr>
          <a:lstStyle>
            <a:lvl1pPr>
              <a:defRPr sz="3600" b="1"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280234" y="286152"/>
            <a:ext cx="11688445" cy="6194425"/>
          </a:xfrm>
          <a:custGeom>
            <a:avLst/>
            <a:gdLst/>
            <a:ahLst/>
            <a:cxnLst/>
            <a:rect l="l" t="t" r="r" b="b"/>
            <a:pathLst>
              <a:path w="11688445" h="6194425">
                <a:moveTo>
                  <a:pt x="0" y="0"/>
                </a:moveTo>
                <a:lnTo>
                  <a:pt x="11687987" y="0"/>
                </a:lnTo>
                <a:lnTo>
                  <a:pt x="11687987" y="6194256"/>
                </a:lnTo>
                <a:lnTo>
                  <a:pt x="0" y="6194256"/>
                </a:lnTo>
                <a:lnTo>
                  <a:pt x="0" y="0"/>
                </a:lnTo>
                <a:close/>
              </a:path>
            </a:pathLst>
          </a:custGeom>
          <a:ln w="38100">
            <a:solidFill>
              <a:srgbClr val="000000"/>
            </a:solidFill>
          </a:ln>
        </p:spPr>
        <p:txBody>
          <a:bodyPr wrap="square" lIns="0" tIns="0" rIns="0" bIns="0" rtlCol="0"/>
          <a:lstStyle/>
          <a:p>
            <a:endParaRPr/>
          </a:p>
        </p:txBody>
      </p:sp>
      <p:sp>
        <p:nvSpPr>
          <p:cNvPr id="2" name="Holder 2"/>
          <p:cNvSpPr>
            <a:spLocks noGrp="1"/>
          </p:cNvSpPr>
          <p:nvPr>
            <p:ph type="title"/>
          </p:nvPr>
        </p:nvSpPr>
        <p:spPr>
          <a:xfrm>
            <a:off x="957889" y="506760"/>
            <a:ext cx="10276221" cy="1087296"/>
          </a:xfrm>
          <a:prstGeom prst="rect">
            <a:avLst/>
          </a:prstGeom>
        </p:spPr>
        <p:txBody>
          <a:bodyPr wrap="square" lIns="0" tIns="0" rIns="0" bIns="0">
            <a:spAutoFit/>
          </a:bodyPr>
          <a:lstStyle>
            <a:lvl1pPr>
              <a:defRPr sz="36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871219" y="1743049"/>
            <a:ext cx="7548880" cy="2306954"/>
          </a:xfrm>
          <a:prstGeom prst="rect">
            <a:avLst/>
          </a:prstGeom>
        </p:spPr>
        <p:txBody>
          <a:bodyPr wrap="square" lIns="0" tIns="0" rIns="0" bIns="0">
            <a:spAutoFit/>
          </a:bodyPr>
          <a:lstStyle>
            <a:lvl1pPr>
              <a:defRPr sz="24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8/2/2026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295910" y="326390"/>
            <a:ext cx="11630660" cy="1877060"/>
            <a:chOff x="295910" y="326390"/>
            <a:chExt cx="11630660" cy="1877060"/>
          </a:xfrm>
        </p:grpSpPr>
        <p:sp>
          <p:nvSpPr>
            <p:cNvPr id="3" name="object 3"/>
            <p:cNvSpPr/>
            <p:nvPr/>
          </p:nvSpPr>
          <p:spPr>
            <a:xfrm>
              <a:off x="314960" y="345440"/>
              <a:ext cx="11592560" cy="1838960"/>
            </a:xfrm>
            <a:custGeom>
              <a:avLst/>
              <a:gdLst/>
              <a:ahLst/>
              <a:cxnLst/>
              <a:rect l="l" t="t" r="r" b="b"/>
              <a:pathLst>
                <a:path w="11592560" h="1838960">
                  <a:moveTo>
                    <a:pt x="0" y="0"/>
                  </a:moveTo>
                  <a:lnTo>
                    <a:pt x="11592560" y="0"/>
                  </a:lnTo>
                  <a:lnTo>
                    <a:pt x="11592560" y="1838960"/>
                  </a:lnTo>
                  <a:lnTo>
                    <a:pt x="0" y="1838960"/>
                  </a:lnTo>
                  <a:lnTo>
                    <a:pt x="0" y="0"/>
                  </a:lnTo>
                  <a:close/>
                </a:path>
              </a:pathLst>
            </a:custGeom>
            <a:ln w="38100">
              <a:solidFill>
                <a:srgbClr val="000000"/>
              </a:solidFill>
            </a:ln>
          </p:spPr>
          <p:txBody>
            <a:bodyPr wrap="square" lIns="0" tIns="0" rIns="0" bIns="0" rtlCol="0"/>
            <a:lstStyle/>
            <a:p>
              <a:endParaRPr/>
            </a:p>
          </p:txBody>
        </p:sp>
        <p:pic>
          <p:nvPicPr>
            <p:cNvPr id="4" name="object 4"/>
            <p:cNvPicPr/>
            <p:nvPr/>
          </p:nvPicPr>
          <p:blipFill>
            <a:blip r:embed="rId2" cstate="print"/>
            <a:stretch>
              <a:fillRect/>
            </a:stretch>
          </p:blipFill>
          <p:spPr>
            <a:xfrm>
              <a:off x="590309" y="507709"/>
              <a:ext cx="10972800" cy="1181038"/>
            </a:xfrm>
            <a:prstGeom prst="rect">
              <a:avLst/>
            </a:prstGeom>
          </p:spPr>
        </p:pic>
      </p:grpSp>
      <p:sp>
        <p:nvSpPr>
          <p:cNvPr id="5" name="object 5"/>
          <p:cNvSpPr txBox="1"/>
          <p:nvPr/>
        </p:nvSpPr>
        <p:spPr>
          <a:xfrm>
            <a:off x="2895600" y="3174183"/>
            <a:ext cx="6782802" cy="3001271"/>
          </a:xfrm>
          <a:prstGeom prst="rect">
            <a:avLst/>
          </a:prstGeom>
          <a:ln w="12700">
            <a:solidFill>
              <a:srgbClr val="000000"/>
            </a:solidFill>
          </a:ln>
        </p:spPr>
        <p:txBody>
          <a:bodyPr vert="horz" wrap="square" lIns="0" tIns="7620" rIns="0" bIns="0" rtlCol="0">
            <a:spAutoFit/>
          </a:bodyPr>
          <a:lstStyle/>
          <a:p>
            <a:pPr marL="82550">
              <a:lnSpc>
                <a:spcPts val="3279"/>
              </a:lnSpc>
              <a:spcBef>
                <a:spcPts val="60"/>
              </a:spcBef>
              <a:tabLst>
                <a:tab pos="2689860" algn="l"/>
              </a:tabLst>
            </a:pPr>
            <a:r>
              <a:rPr sz="2000" dirty="0">
                <a:latin typeface="Times New Roman"/>
                <a:cs typeface="Times New Roman"/>
              </a:rPr>
              <a:t>Presented</a:t>
            </a:r>
            <a:r>
              <a:rPr sz="2000" spc="-15" dirty="0">
                <a:latin typeface="Times New Roman"/>
                <a:cs typeface="Times New Roman"/>
              </a:rPr>
              <a:t> </a:t>
            </a:r>
            <a:r>
              <a:rPr sz="2000" dirty="0">
                <a:latin typeface="Times New Roman"/>
                <a:cs typeface="Times New Roman"/>
              </a:rPr>
              <a:t>by</a:t>
            </a:r>
            <a:r>
              <a:rPr sz="2000" spc="-10" dirty="0">
                <a:latin typeface="Times New Roman"/>
                <a:cs typeface="Times New Roman"/>
              </a:rPr>
              <a:t> </a:t>
            </a:r>
            <a:r>
              <a:rPr sz="2000" dirty="0">
                <a:latin typeface="Times New Roman"/>
                <a:cs typeface="Times New Roman"/>
              </a:rPr>
              <a:t>:</a:t>
            </a:r>
            <a:r>
              <a:rPr lang="en-US" sz="2000" dirty="0">
                <a:latin typeface="Times New Roman"/>
                <a:cs typeface="Times New Roman"/>
              </a:rPr>
              <a:t> </a:t>
            </a:r>
            <a:r>
              <a:rPr sz="2000" spc="-20" dirty="0">
                <a:latin typeface="Times New Roman"/>
                <a:cs typeface="Times New Roman"/>
              </a:rPr>
              <a:t> </a:t>
            </a:r>
            <a:r>
              <a:rPr lang="en-IN" sz="2000" spc="-25" dirty="0">
                <a:latin typeface="Times New Roman"/>
                <a:cs typeface="Times New Roman"/>
              </a:rPr>
              <a:t>G.RAJU(192411065)</a:t>
            </a:r>
            <a:r>
              <a:rPr lang="en-US" sz="2000" spc="-10" dirty="0">
                <a:latin typeface="Times New Roman"/>
                <a:cs typeface="Times New Roman"/>
              </a:rPr>
              <a:t> </a:t>
            </a:r>
          </a:p>
          <a:p>
            <a:pPr marL="82550">
              <a:lnSpc>
                <a:spcPts val="3279"/>
              </a:lnSpc>
              <a:spcBef>
                <a:spcPts val="60"/>
              </a:spcBef>
              <a:tabLst>
                <a:tab pos="2689860" algn="l"/>
              </a:tabLst>
            </a:pPr>
            <a:r>
              <a:rPr lang="en-US" sz="2000" spc="-10" dirty="0">
                <a:latin typeface="Times New Roman"/>
                <a:cs typeface="Times New Roman"/>
              </a:rPr>
              <a:t>                          GAYATHRI DEVI .M.S(192421279)</a:t>
            </a:r>
          </a:p>
          <a:p>
            <a:pPr marL="82550">
              <a:lnSpc>
                <a:spcPts val="3279"/>
              </a:lnSpc>
              <a:spcBef>
                <a:spcPts val="60"/>
              </a:spcBef>
              <a:tabLst>
                <a:tab pos="2689860" algn="l"/>
              </a:tabLst>
            </a:pPr>
            <a:r>
              <a:rPr lang="en-US" sz="2000" spc="-10" dirty="0">
                <a:latin typeface="Times New Roman"/>
                <a:cs typeface="Times New Roman"/>
              </a:rPr>
              <a:t>                          P.SAI BHARGAV(192411049)</a:t>
            </a:r>
          </a:p>
          <a:p>
            <a:pPr marL="82550">
              <a:lnSpc>
                <a:spcPts val="3279"/>
              </a:lnSpc>
              <a:spcBef>
                <a:spcPts val="60"/>
              </a:spcBef>
              <a:tabLst>
                <a:tab pos="2689860" algn="l"/>
              </a:tabLst>
            </a:pPr>
            <a:r>
              <a:rPr lang="en-US" sz="2000" spc="-10" dirty="0">
                <a:latin typeface="Times New Roman"/>
                <a:cs typeface="Times New Roman"/>
              </a:rPr>
              <a:t>                          EESHA(192311261)</a:t>
            </a:r>
          </a:p>
          <a:p>
            <a:pPr marL="82550">
              <a:lnSpc>
                <a:spcPts val="3279"/>
              </a:lnSpc>
              <a:spcBef>
                <a:spcPts val="60"/>
              </a:spcBef>
              <a:tabLst>
                <a:tab pos="2689860" algn="l"/>
              </a:tabLst>
            </a:pPr>
            <a:r>
              <a:rPr sz="2000" dirty="0">
                <a:latin typeface="Times New Roman"/>
                <a:cs typeface="Times New Roman"/>
              </a:rPr>
              <a:t>Subject</a:t>
            </a:r>
            <a:r>
              <a:rPr sz="2000" spc="-20" dirty="0">
                <a:latin typeface="Times New Roman"/>
                <a:cs typeface="Times New Roman"/>
              </a:rPr>
              <a:t> </a:t>
            </a:r>
            <a:r>
              <a:rPr sz="2000" dirty="0">
                <a:latin typeface="Times New Roman"/>
                <a:cs typeface="Times New Roman"/>
              </a:rPr>
              <a:t>code</a:t>
            </a:r>
            <a:r>
              <a:rPr lang="en-US" sz="2000" spc="-15" dirty="0">
                <a:latin typeface="Times New Roman"/>
                <a:cs typeface="Times New Roman"/>
              </a:rPr>
              <a:t>: CSA0618</a:t>
            </a:r>
            <a:endParaRPr lang="en-US" sz="2000" spc="-10" dirty="0">
              <a:latin typeface="Times New Roman"/>
              <a:cs typeface="Times New Roman"/>
            </a:endParaRPr>
          </a:p>
          <a:p>
            <a:pPr marL="82550">
              <a:lnSpc>
                <a:spcPts val="3279"/>
              </a:lnSpc>
              <a:spcBef>
                <a:spcPts val="60"/>
              </a:spcBef>
              <a:tabLst>
                <a:tab pos="2689860" algn="l"/>
              </a:tabLst>
            </a:pPr>
            <a:r>
              <a:rPr lang="en-US" sz="2000" spc="-10" dirty="0">
                <a:latin typeface="Times New Roman"/>
                <a:cs typeface="Times New Roman"/>
              </a:rPr>
              <a:t>Subject: DESIGN ALGORITHM &amp; ANALYSIS</a:t>
            </a:r>
          </a:p>
          <a:p>
            <a:pPr marL="82550">
              <a:lnSpc>
                <a:spcPts val="3279"/>
              </a:lnSpc>
              <a:spcBef>
                <a:spcPts val="60"/>
              </a:spcBef>
              <a:tabLst>
                <a:tab pos="2689860" algn="l"/>
              </a:tabLst>
            </a:pPr>
            <a:r>
              <a:rPr lang="en-US" sz="2000" spc="-10" dirty="0">
                <a:latin typeface="Times New Roman"/>
                <a:cs typeface="Times New Roman"/>
              </a:rPr>
              <a:t>Guide name: Dr. GNANAJEYARAMAN RAJARAM</a:t>
            </a:r>
            <a:endParaRPr sz="2000" dirty="0">
              <a:latin typeface="Times New Roman"/>
              <a:cs typeface="Times New Roman"/>
            </a:endParaRPr>
          </a:p>
        </p:txBody>
      </p:sp>
      <p:sp>
        <p:nvSpPr>
          <p:cNvPr id="6" name="object 6"/>
          <p:cNvSpPr txBox="1">
            <a:spLocks noGrp="1"/>
          </p:cNvSpPr>
          <p:nvPr>
            <p:ph type="title"/>
          </p:nvPr>
        </p:nvSpPr>
        <p:spPr>
          <a:xfrm>
            <a:off x="1465505" y="2448843"/>
            <a:ext cx="9366885" cy="453970"/>
          </a:xfrm>
          <a:prstGeom prst="rect">
            <a:avLst/>
          </a:prstGeom>
        </p:spPr>
        <p:txBody>
          <a:bodyPr vert="horz" wrap="square" lIns="0" tIns="43180" rIns="0" bIns="0" rtlCol="0">
            <a:spAutoFit/>
          </a:bodyPr>
          <a:lstStyle/>
          <a:p>
            <a:pPr marL="3675379" marR="5080" indent="-3663315" algn="ctr">
              <a:lnSpc>
                <a:spcPts val="3200"/>
              </a:lnSpc>
              <a:spcBef>
                <a:spcPts val="340"/>
              </a:spcBef>
            </a:pPr>
            <a:r>
              <a:rPr lang="en-US" sz="2800" dirty="0"/>
              <a:t>Smart Traffic Signal Optimization System</a:t>
            </a:r>
            <a:endParaRPr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30F5F-B562-360F-BF33-130BB75184B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8AE1009-9C51-6574-7E53-A3B50D01E253}"/>
              </a:ext>
            </a:extLst>
          </p:cNvPr>
          <p:cNvSpPr txBox="1">
            <a:spLocks noGrp="1"/>
          </p:cNvSpPr>
          <p:nvPr>
            <p:ph type="title"/>
          </p:nvPr>
        </p:nvSpPr>
        <p:spPr>
          <a:xfrm>
            <a:off x="533400" y="990600"/>
            <a:ext cx="8763000" cy="773688"/>
          </a:xfrm>
          <a:prstGeom prst="rect">
            <a:avLst/>
          </a:prstGeom>
        </p:spPr>
        <p:txBody>
          <a:bodyPr vert="horz" wrap="square" lIns="0" tIns="217566" rIns="0" bIns="0" rtlCol="0">
            <a:spAutoFit/>
          </a:bodyPr>
          <a:lstStyle/>
          <a:p>
            <a:pPr marL="2513965" algn="ctr">
              <a:lnSpc>
                <a:spcPct val="100000"/>
              </a:lnSpc>
              <a:spcBef>
                <a:spcPts val="100"/>
              </a:spcBef>
            </a:pPr>
            <a:r>
              <a:rPr lang="en-IN" u="sng" dirty="0"/>
              <a:t>PROBLEM STATEMENT</a:t>
            </a:r>
            <a:endParaRPr u="sng" spc="-55" dirty="0"/>
          </a:p>
        </p:txBody>
      </p:sp>
      <p:sp>
        <p:nvSpPr>
          <p:cNvPr id="5" name="Rectangle 1">
            <a:extLst>
              <a:ext uri="{FF2B5EF4-FFF2-40B4-BE49-F238E27FC236}">
                <a16:creationId xmlns:a16="http://schemas.microsoft.com/office/drawing/2014/main" id="{BA3BEA86-A56F-A5DE-E865-20E3A7C30107}"/>
              </a:ext>
            </a:extLst>
          </p:cNvPr>
          <p:cNvSpPr>
            <a:spLocks noChangeArrowheads="1"/>
          </p:cNvSpPr>
          <p:nvPr/>
        </p:nvSpPr>
        <p:spPr bwMode="auto">
          <a:xfrm>
            <a:off x="990600" y="2207146"/>
            <a:ext cx="1036320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r>
              <a:rPr lang="en-IN" sz="2000" dirty="0">
                <a:latin typeface="Times New Roman" panose="02020603050405020304" pitchFamily="18" charset="0"/>
                <a:cs typeface="Times New Roman" panose="02020603050405020304" pitchFamily="18" charset="0"/>
              </a:rPr>
              <a:t>Traffic congestion is one of the most common problems in urban areas, resulting in increased travel time, fuel consumption, and air pollution. Conventional traffic signal systems use fixed signal durations regardless of the actual traffic conditions, making them inefficient during peak hours. Roads with heavy traffic often experience long waiting times, while roads with fewer vehicles receive unnecessary green signal time.</a:t>
            </a:r>
          </a:p>
          <a:p>
            <a:pPr lvl="0"/>
            <a:endParaRPr lang="en-IN" sz="2000" dirty="0">
              <a:latin typeface="Times New Roman" panose="02020603050405020304" pitchFamily="18" charset="0"/>
              <a:cs typeface="Times New Roman" panose="02020603050405020304" pitchFamily="18" charset="0"/>
            </a:endParaRPr>
          </a:p>
          <a:p>
            <a:pPr lvl="0"/>
            <a:r>
              <a:rPr lang="en-IN" sz="2000" dirty="0">
                <a:latin typeface="Times New Roman" panose="02020603050405020304" pitchFamily="18" charset="0"/>
                <a:cs typeface="Times New Roman" panose="02020603050405020304" pitchFamily="18" charset="0"/>
              </a:rPr>
              <a:t>This imbalance reduces the efficiency of traffic movement and creates bottlenecks at intersections. Therefore, there is a need for a smart system that can monitor traffic in real time and optimize signal timings based on current road conditions.</a:t>
            </a:r>
          </a:p>
        </p:txBody>
      </p:sp>
    </p:spTree>
    <p:extLst>
      <p:ext uri="{BB962C8B-B14F-4D97-AF65-F5344CB8AC3E}">
        <p14:creationId xmlns:p14="http://schemas.microsoft.com/office/powerpoint/2010/main" val="14461647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66800" y="685800"/>
            <a:ext cx="10972799" cy="773688"/>
          </a:xfrm>
          <a:prstGeom prst="rect">
            <a:avLst/>
          </a:prstGeom>
        </p:spPr>
        <p:txBody>
          <a:bodyPr vert="horz" wrap="square" lIns="0" tIns="217566" rIns="0" bIns="0" rtlCol="0">
            <a:spAutoFit/>
          </a:bodyPr>
          <a:lstStyle/>
          <a:p>
            <a:pPr marL="3308985" algn="l">
              <a:lnSpc>
                <a:spcPct val="100000"/>
              </a:lnSpc>
              <a:spcBef>
                <a:spcPts val="100"/>
              </a:spcBef>
            </a:pPr>
            <a:r>
              <a:rPr lang="en-US" u="sng" spc="-10" dirty="0">
                <a:uFill>
                  <a:solidFill>
                    <a:srgbClr val="000000"/>
                  </a:solidFill>
                </a:uFill>
              </a:rPr>
              <a:t>ABSTRACT </a:t>
            </a:r>
            <a:endParaRPr u="sng" spc="-10" dirty="0">
              <a:uFill>
                <a:solidFill>
                  <a:srgbClr val="000000"/>
                </a:solidFill>
              </a:uFill>
            </a:endParaRPr>
          </a:p>
        </p:txBody>
      </p:sp>
      <p:sp>
        <p:nvSpPr>
          <p:cNvPr id="3" name="object 3"/>
          <p:cNvSpPr txBox="1"/>
          <p:nvPr/>
        </p:nvSpPr>
        <p:spPr>
          <a:xfrm>
            <a:off x="554185" y="1752600"/>
            <a:ext cx="10972798" cy="4509568"/>
          </a:xfrm>
          <a:prstGeom prst="rect">
            <a:avLst/>
          </a:prstGeom>
        </p:spPr>
        <p:txBody>
          <a:bodyPr vert="horz" wrap="square" lIns="0" tIns="76835" rIns="0" bIns="0" rtlCol="0">
            <a:spAutoFit/>
          </a:bodyPr>
          <a:lstStyle/>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Traffic congestion has become a major challenge in urban areas due to the increasing number of vehicles on the roads. Traditional traffic signals operate on fixed timings, which often leads to unnecessary delays and traffic jams. </a:t>
            </a:r>
          </a:p>
          <a:p>
            <a:pPr marL="342900" lvl="0" indent="-34290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Smart Traffic Signal Optimization System is designed to overcome this problem by using real-time traffic information such as vehicle count, waiting time, and traffic density. </a:t>
            </a:r>
          </a:p>
          <a:p>
            <a:pPr lvl="0"/>
            <a:endParaRPr lang="en-IN" sz="24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collected data is </a:t>
            </a:r>
            <a:r>
              <a:rPr lang="en-IN" sz="2400" dirty="0" err="1">
                <a:latin typeface="Times New Roman" panose="02020603050405020304" pitchFamily="18" charset="0"/>
                <a:cs typeface="Times New Roman" panose="02020603050405020304" pitchFamily="18" charset="0"/>
              </a:rPr>
              <a:t>analyzed</a:t>
            </a:r>
            <a:r>
              <a:rPr lang="en-IN" sz="2400" dirty="0">
                <a:latin typeface="Times New Roman" panose="02020603050405020304" pitchFamily="18" charset="0"/>
                <a:cs typeface="Times New Roman" panose="02020603050405020304" pitchFamily="18" charset="0"/>
              </a:rPr>
              <a:t> to determine the most efficient signal timings for each intersection. The system dynamically adjusts traffic lights according to current traffic conditions, reducing congestion and improving vehicle movement.</a:t>
            </a:r>
          </a:p>
          <a:p>
            <a:pPr lvl="0"/>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819E5-AF0C-9A45-E092-4ABFB4FC3F7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CF4257D-42AB-C703-4554-37C9DF6587DD}"/>
              </a:ext>
            </a:extLst>
          </p:cNvPr>
          <p:cNvSpPr txBox="1">
            <a:spLocks noGrp="1"/>
          </p:cNvSpPr>
          <p:nvPr>
            <p:ph type="title"/>
          </p:nvPr>
        </p:nvSpPr>
        <p:spPr>
          <a:xfrm>
            <a:off x="1295400" y="673728"/>
            <a:ext cx="10896600" cy="773688"/>
          </a:xfrm>
          <a:prstGeom prst="rect">
            <a:avLst/>
          </a:prstGeom>
        </p:spPr>
        <p:txBody>
          <a:bodyPr vert="horz" wrap="square" lIns="0" tIns="217566" rIns="0" bIns="0" rtlCol="0">
            <a:spAutoFit/>
          </a:bodyPr>
          <a:lstStyle/>
          <a:p>
            <a:pPr marL="2513965">
              <a:lnSpc>
                <a:spcPct val="100000"/>
              </a:lnSpc>
              <a:spcBef>
                <a:spcPts val="100"/>
              </a:spcBef>
            </a:pPr>
            <a:r>
              <a:rPr lang="en-IN" u="sng" spc="-55" dirty="0"/>
              <a:t>INTRODUCTION</a:t>
            </a:r>
            <a:endParaRPr u="sng" spc="-55" dirty="0"/>
          </a:p>
        </p:txBody>
      </p:sp>
      <p:sp>
        <p:nvSpPr>
          <p:cNvPr id="5" name="Rectangle 1">
            <a:extLst>
              <a:ext uri="{FF2B5EF4-FFF2-40B4-BE49-F238E27FC236}">
                <a16:creationId xmlns:a16="http://schemas.microsoft.com/office/drawing/2014/main" id="{415DDF07-2A56-18ED-F13A-DB591C738C65}"/>
              </a:ext>
            </a:extLst>
          </p:cNvPr>
          <p:cNvSpPr>
            <a:spLocks noChangeArrowheads="1"/>
          </p:cNvSpPr>
          <p:nvPr/>
        </p:nvSpPr>
        <p:spPr bwMode="auto">
          <a:xfrm>
            <a:off x="304800" y="1905000"/>
            <a:ext cx="8305800"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buFont typeface="Wingdings" panose="05000000000000000000" pitchFamily="2" charset="2"/>
              <a:buChar char="§"/>
            </a:pPr>
            <a:r>
              <a:rPr lang="en-IN" sz="2200" dirty="0">
                <a:latin typeface="Times New Roman" panose="02020603050405020304" pitchFamily="18" charset="0"/>
                <a:cs typeface="Times New Roman" panose="02020603050405020304" pitchFamily="18" charset="0"/>
              </a:rPr>
              <a:t>Traditional traffic signals use fixed timings regardless of traffic conditions. </a:t>
            </a:r>
          </a:p>
          <a:p>
            <a:pPr marL="342900" lvl="0" indent="-342900">
              <a:buFont typeface="Wingdings" panose="05000000000000000000" pitchFamily="2" charset="2"/>
              <a:buChar char="§"/>
            </a:pPr>
            <a:r>
              <a:rPr lang="en-IN" sz="2200" dirty="0">
                <a:latin typeface="Times New Roman" panose="02020603050405020304" pitchFamily="18" charset="0"/>
                <a:cs typeface="Times New Roman" panose="02020603050405020304" pitchFamily="18" charset="0"/>
              </a:rPr>
              <a:t>During peak hours, fixed timings often lead to long queues and traffic congestion. </a:t>
            </a:r>
          </a:p>
          <a:p>
            <a:pPr marL="342900" lvl="0" indent="-342900">
              <a:buFont typeface="Wingdings" panose="05000000000000000000" pitchFamily="2" charset="2"/>
              <a:buChar char="§"/>
            </a:pPr>
            <a:r>
              <a:rPr lang="en-IN" sz="2200" dirty="0">
                <a:latin typeface="Times New Roman" panose="02020603050405020304" pitchFamily="18" charset="0"/>
                <a:cs typeface="Times New Roman" panose="02020603050405020304" pitchFamily="18" charset="0"/>
              </a:rPr>
              <a:t>Smart traffic systems overcome this issue by responding to real-time traffic data. </a:t>
            </a:r>
          </a:p>
          <a:p>
            <a:pPr marL="342900" lvl="0" indent="-342900">
              <a:buFont typeface="Wingdings" panose="05000000000000000000" pitchFamily="2" charset="2"/>
              <a:buChar char="§"/>
            </a:pPr>
            <a:r>
              <a:rPr lang="en-IN" sz="2200" dirty="0">
                <a:latin typeface="Times New Roman" panose="02020603050405020304" pitchFamily="18" charset="0"/>
                <a:cs typeface="Times New Roman" panose="02020603050405020304" pitchFamily="18" charset="0"/>
              </a:rPr>
              <a:t>The proposed system continuously monitors road conditions and adjusts signal timings dynamically. </a:t>
            </a:r>
          </a:p>
          <a:p>
            <a:pPr marL="342900" lvl="0" indent="-342900">
              <a:buFont typeface="Wingdings" panose="05000000000000000000" pitchFamily="2" charset="2"/>
              <a:buChar char="§"/>
            </a:pPr>
            <a:r>
              <a:rPr lang="en-IN" sz="2200" dirty="0">
                <a:latin typeface="Times New Roman" panose="02020603050405020304" pitchFamily="18" charset="0"/>
                <a:cs typeface="Times New Roman" panose="02020603050405020304" pitchFamily="18" charset="0"/>
              </a:rPr>
              <a:t>It helps reduce delays, improve travel time, and increase road efficiency. </a:t>
            </a:r>
          </a:p>
        </p:txBody>
      </p:sp>
      <p:pic>
        <p:nvPicPr>
          <p:cNvPr id="4" name="Picture 3">
            <a:extLst>
              <a:ext uri="{FF2B5EF4-FFF2-40B4-BE49-F238E27FC236}">
                <a16:creationId xmlns:a16="http://schemas.microsoft.com/office/drawing/2014/main" id="{91739893-826B-4905-4B8D-DE132F8280BB}"/>
              </a:ext>
            </a:extLst>
          </p:cNvPr>
          <p:cNvPicPr>
            <a:picLocks noChangeAspect="1"/>
          </p:cNvPicPr>
          <p:nvPr/>
        </p:nvPicPr>
        <p:blipFill>
          <a:blip r:embed="rId2"/>
          <a:stretch>
            <a:fillRect/>
          </a:stretch>
        </p:blipFill>
        <p:spPr>
          <a:xfrm>
            <a:off x="8461801" y="1887682"/>
            <a:ext cx="3425399" cy="3276600"/>
          </a:xfrm>
          <a:prstGeom prst="rect">
            <a:avLst/>
          </a:prstGeom>
        </p:spPr>
      </p:pic>
    </p:spTree>
    <p:extLst>
      <p:ext uri="{BB962C8B-B14F-4D97-AF65-F5344CB8AC3E}">
        <p14:creationId xmlns:p14="http://schemas.microsoft.com/office/powerpoint/2010/main" val="23697892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28800" y="590601"/>
            <a:ext cx="5562600" cy="773688"/>
          </a:xfrm>
          <a:prstGeom prst="rect">
            <a:avLst/>
          </a:prstGeom>
        </p:spPr>
        <p:txBody>
          <a:bodyPr vert="horz" wrap="square" lIns="0" tIns="217566" rIns="0" bIns="0" rtlCol="0">
            <a:spAutoFit/>
          </a:bodyPr>
          <a:lstStyle/>
          <a:p>
            <a:pPr marL="2513965" algn="ctr">
              <a:lnSpc>
                <a:spcPct val="100000"/>
              </a:lnSpc>
              <a:spcBef>
                <a:spcPts val="100"/>
              </a:spcBef>
            </a:pPr>
            <a:r>
              <a:rPr lang="en-IN" u="sng" dirty="0"/>
              <a:t>OBJECTIVE</a:t>
            </a:r>
            <a:endParaRPr u="sng" spc="-55" dirty="0"/>
          </a:p>
        </p:txBody>
      </p:sp>
      <p:sp>
        <p:nvSpPr>
          <p:cNvPr id="5" name="Rectangle 1">
            <a:extLst>
              <a:ext uri="{FF2B5EF4-FFF2-40B4-BE49-F238E27FC236}">
                <a16:creationId xmlns:a16="http://schemas.microsoft.com/office/drawing/2014/main" id="{A67277E1-A342-0B41-290F-157DC5E3DF9E}"/>
              </a:ext>
            </a:extLst>
          </p:cNvPr>
          <p:cNvSpPr>
            <a:spLocks noChangeArrowheads="1"/>
          </p:cNvSpPr>
          <p:nvPr/>
        </p:nvSpPr>
        <p:spPr bwMode="auto">
          <a:xfrm>
            <a:off x="457200" y="1981200"/>
            <a:ext cx="8626366"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main objective of this project is to develop a smart traffic management system that automatically adjusts traffic signal timings based on real-time traffic conditions. </a:t>
            </a:r>
          </a:p>
          <a:p>
            <a:pPr marL="285750" lvl="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system aims to collect accurate traffic data, analyse congestion levels, and allocate green signal time efficiently.</a:t>
            </a:r>
          </a:p>
          <a:p>
            <a:pPr marL="285750" lvl="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 It focuses on reducing vehicle waiting time, minimizing traffic congestion, and improving the overall flow of vehicles at intersections.</a:t>
            </a:r>
          </a:p>
          <a:p>
            <a:pPr marL="285750" lvl="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 Another objective is to reduce fuel consumption and vehicle emissions caused by unnecessary idling.</a:t>
            </a:r>
          </a:p>
          <a:p>
            <a:pPr marL="285750" lvl="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 The project also aims to provide a scalable and intelligent solution that can be implemented in smart cities to improve transportation efficiency.</a:t>
            </a:r>
          </a:p>
        </p:txBody>
      </p:sp>
      <p:pic>
        <p:nvPicPr>
          <p:cNvPr id="1027" name="Picture 3" descr="Project goal Images - Free Download on Magnific (formerly ...">
            <a:extLst>
              <a:ext uri="{FF2B5EF4-FFF2-40B4-BE49-F238E27FC236}">
                <a16:creationId xmlns:a16="http://schemas.microsoft.com/office/drawing/2014/main" id="{86B2E684-42E4-2E94-C695-5AFAB4E8A6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39197" y="2205989"/>
            <a:ext cx="2495603" cy="244602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DEF11CC8-75A7-7405-693A-EB1E15291340}"/>
              </a:ext>
            </a:extLst>
          </p:cNvPr>
          <p:cNvSpPr/>
          <p:nvPr/>
        </p:nvSpPr>
        <p:spPr>
          <a:xfrm>
            <a:off x="256788" y="299438"/>
            <a:ext cx="11688445" cy="6194425"/>
          </a:xfrm>
          <a:custGeom>
            <a:avLst/>
            <a:gdLst/>
            <a:ahLst/>
            <a:cxnLst/>
            <a:rect l="l" t="t" r="r" b="b"/>
            <a:pathLst>
              <a:path w="11688445" h="6194425">
                <a:moveTo>
                  <a:pt x="0" y="0"/>
                </a:moveTo>
                <a:lnTo>
                  <a:pt x="11687987" y="0"/>
                </a:lnTo>
                <a:lnTo>
                  <a:pt x="11687987" y="6194256"/>
                </a:lnTo>
                <a:lnTo>
                  <a:pt x="0" y="6194256"/>
                </a:lnTo>
                <a:lnTo>
                  <a:pt x="0" y="0"/>
                </a:lnTo>
                <a:close/>
              </a:path>
            </a:pathLst>
          </a:custGeom>
          <a:ln w="38100">
            <a:solidFill>
              <a:srgbClr val="000000"/>
            </a:solidFill>
          </a:ln>
        </p:spPr>
        <p:txBody>
          <a:bodyPr wrap="square" lIns="0" tIns="0" rIns="0" bIns="0" rtlCol="0"/>
          <a:lstStyle/>
          <a:p>
            <a:endParaRPr/>
          </a:p>
        </p:txBody>
      </p:sp>
      <p:sp>
        <p:nvSpPr>
          <p:cNvPr id="3" name="TextBox 2">
            <a:extLst>
              <a:ext uri="{FF2B5EF4-FFF2-40B4-BE49-F238E27FC236}">
                <a16:creationId xmlns:a16="http://schemas.microsoft.com/office/drawing/2014/main" id="{9AF9B739-DD31-2A3C-F1A7-EDFB03A7F31D}"/>
              </a:ext>
            </a:extLst>
          </p:cNvPr>
          <p:cNvSpPr txBox="1"/>
          <p:nvPr/>
        </p:nvSpPr>
        <p:spPr>
          <a:xfrm>
            <a:off x="914400" y="637090"/>
            <a:ext cx="10653904" cy="646331"/>
          </a:xfrm>
          <a:prstGeom prst="rect">
            <a:avLst/>
          </a:prstGeom>
          <a:noFill/>
        </p:spPr>
        <p:txBody>
          <a:bodyPr wrap="square" rtlCol="0">
            <a:spAutoFit/>
          </a:bodyPr>
          <a:lstStyle/>
          <a:p>
            <a:pPr algn="ctr"/>
            <a:r>
              <a:rPr lang="en-US" sz="3600" b="1" u="sng" dirty="0">
                <a:latin typeface="Times New Roman" panose="02020603050405020304" pitchFamily="18" charset="0"/>
                <a:cs typeface="Times New Roman" panose="02020603050405020304" pitchFamily="18" charset="0"/>
              </a:rPr>
              <a:t>ARCHITECTURE DIAGRAM</a:t>
            </a:r>
            <a:endParaRPr lang="en-IN" sz="3600" b="1" u="sng"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625BBAC-E443-191B-EF70-F36688C2D634}"/>
              </a:ext>
            </a:extLst>
          </p:cNvPr>
          <p:cNvPicPr>
            <a:picLocks noChangeAspect="1"/>
          </p:cNvPicPr>
          <p:nvPr/>
        </p:nvPicPr>
        <p:blipFill>
          <a:blip r:embed="rId3"/>
          <a:stretch>
            <a:fillRect/>
          </a:stretch>
        </p:blipFill>
        <p:spPr>
          <a:xfrm>
            <a:off x="1524000" y="1600200"/>
            <a:ext cx="8949671" cy="4576884"/>
          </a:xfrm>
          <a:prstGeom prst="rect">
            <a:avLst/>
          </a:prstGeom>
        </p:spPr>
      </p:pic>
    </p:spTree>
    <p:extLst>
      <p:ext uri="{BB962C8B-B14F-4D97-AF65-F5344CB8AC3E}">
        <p14:creationId xmlns:p14="http://schemas.microsoft.com/office/powerpoint/2010/main" val="5330734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36B546-1D54-7CC1-3E1B-5445DE020DF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426E4CF-2EA3-822C-2976-BE8AA646CBD5}"/>
              </a:ext>
            </a:extLst>
          </p:cNvPr>
          <p:cNvSpPr txBox="1">
            <a:spLocks noGrp="1"/>
          </p:cNvSpPr>
          <p:nvPr>
            <p:ph type="title"/>
          </p:nvPr>
        </p:nvSpPr>
        <p:spPr>
          <a:xfrm>
            <a:off x="-1600200" y="590601"/>
            <a:ext cx="12801600" cy="773688"/>
          </a:xfrm>
          <a:prstGeom prst="rect">
            <a:avLst/>
          </a:prstGeom>
        </p:spPr>
        <p:txBody>
          <a:bodyPr vert="horz" wrap="square" lIns="0" tIns="217566" rIns="0" bIns="0" rtlCol="0">
            <a:spAutoFit/>
          </a:bodyPr>
          <a:lstStyle/>
          <a:p>
            <a:pPr marL="2513965" algn="ctr">
              <a:lnSpc>
                <a:spcPct val="100000"/>
              </a:lnSpc>
              <a:spcBef>
                <a:spcPts val="100"/>
              </a:spcBef>
            </a:pPr>
            <a:r>
              <a:rPr lang="en-IN" u="sng" spc="-55" dirty="0"/>
              <a:t>MODULE 1:TRAFFIC DATA COLLECTION</a:t>
            </a:r>
          </a:p>
        </p:txBody>
      </p:sp>
      <p:sp>
        <p:nvSpPr>
          <p:cNvPr id="5" name="Rectangle 1">
            <a:extLst>
              <a:ext uri="{FF2B5EF4-FFF2-40B4-BE49-F238E27FC236}">
                <a16:creationId xmlns:a16="http://schemas.microsoft.com/office/drawing/2014/main" id="{9EBDD38F-E072-7BE6-EDFD-2A81A427F5B8}"/>
              </a:ext>
            </a:extLst>
          </p:cNvPr>
          <p:cNvSpPr>
            <a:spLocks noChangeArrowheads="1"/>
          </p:cNvSpPr>
          <p:nvPr/>
        </p:nvSpPr>
        <p:spPr bwMode="auto">
          <a:xfrm>
            <a:off x="1676400" y="2090172"/>
            <a:ext cx="8626366"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Collect real-time traffic data using cameras, sensors, or IoT devices.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Count the number of vehicles on each road approaching the intersection.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Detect traffic density and congestion levels.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Send the collected traffic information to the optimization module for processing</a:t>
            </a:r>
          </a:p>
        </p:txBody>
      </p:sp>
    </p:spTree>
    <p:extLst>
      <p:ext uri="{BB962C8B-B14F-4D97-AF65-F5344CB8AC3E}">
        <p14:creationId xmlns:p14="http://schemas.microsoft.com/office/powerpoint/2010/main" val="8518528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24A39-CA16-C693-ADA8-571A45BB9DB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3AF205A-B205-7662-4E08-CF343C213ECA}"/>
              </a:ext>
            </a:extLst>
          </p:cNvPr>
          <p:cNvSpPr txBox="1">
            <a:spLocks noGrp="1"/>
          </p:cNvSpPr>
          <p:nvPr>
            <p:ph type="title"/>
          </p:nvPr>
        </p:nvSpPr>
        <p:spPr>
          <a:xfrm>
            <a:off x="-1600200" y="590601"/>
            <a:ext cx="12801600" cy="773688"/>
          </a:xfrm>
          <a:prstGeom prst="rect">
            <a:avLst/>
          </a:prstGeom>
        </p:spPr>
        <p:txBody>
          <a:bodyPr vert="horz" wrap="square" lIns="0" tIns="217566" rIns="0" bIns="0" rtlCol="0">
            <a:spAutoFit/>
          </a:bodyPr>
          <a:lstStyle/>
          <a:p>
            <a:pPr marL="2513965" algn="ctr">
              <a:lnSpc>
                <a:spcPct val="100000"/>
              </a:lnSpc>
              <a:spcBef>
                <a:spcPts val="100"/>
              </a:spcBef>
            </a:pPr>
            <a:r>
              <a:rPr lang="en-IN" u="sng" spc="-55" dirty="0"/>
              <a:t>MODULE 2:SIGNAL TIMING OPTIMIZER</a:t>
            </a:r>
          </a:p>
        </p:txBody>
      </p:sp>
      <p:sp>
        <p:nvSpPr>
          <p:cNvPr id="5" name="Rectangle 1">
            <a:extLst>
              <a:ext uri="{FF2B5EF4-FFF2-40B4-BE49-F238E27FC236}">
                <a16:creationId xmlns:a16="http://schemas.microsoft.com/office/drawing/2014/main" id="{50B5F8FC-8A9D-1840-6C36-BE9FA00C31C5}"/>
              </a:ext>
            </a:extLst>
          </p:cNvPr>
          <p:cNvSpPr>
            <a:spLocks noChangeArrowheads="1"/>
          </p:cNvSpPr>
          <p:nvPr/>
        </p:nvSpPr>
        <p:spPr bwMode="auto">
          <a:xfrm>
            <a:off x="1981200" y="2090172"/>
            <a:ext cx="845820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buFont typeface="Arial" panose="020B0604020202020204" pitchFamily="34" charset="0"/>
              <a:buChar char="•"/>
            </a:pP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the traffic data received from the data collection module.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Calculate the optimal green, yellow, and red signal durations.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Prioritize roads with higher traffic density to reduce waiting time.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Update signal timings dynamically based on changing traffic conditions.</a:t>
            </a:r>
          </a:p>
        </p:txBody>
      </p:sp>
    </p:spTree>
    <p:extLst>
      <p:ext uri="{BB962C8B-B14F-4D97-AF65-F5344CB8AC3E}">
        <p14:creationId xmlns:p14="http://schemas.microsoft.com/office/powerpoint/2010/main" val="4833062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AA848-3319-13B7-DC3A-C719C7987B0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0623520-A5E8-B55F-1D30-66A888E7954E}"/>
              </a:ext>
            </a:extLst>
          </p:cNvPr>
          <p:cNvSpPr txBox="1">
            <a:spLocks noGrp="1"/>
          </p:cNvSpPr>
          <p:nvPr>
            <p:ph type="title"/>
          </p:nvPr>
        </p:nvSpPr>
        <p:spPr>
          <a:xfrm>
            <a:off x="-1752600" y="685800"/>
            <a:ext cx="12801600" cy="773688"/>
          </a:xfrm>
          <a:prstGeom prst="rect">
            <a:avLst/>
          </a:prstGeom>
        </p:spPr>
        <p:txBody>
          <a:bodyPr vert="horz" wrap="square" lIns="0" tIns="217566" rIns="0" bIns="0" rtlCol="0">
            <a:spAutoFit/>
          </a:bodyPr>
          <a:lstStyle/>
          <a:p>
            <a:pPr marL="2513965" algn="ctr">
              <a:lnSpc>
                <a:spcPct val="100000"/>
              </a:lnSpc>
              <a:spcBef>
                <a:spcPts val="100"/>
              </a:spcBef>
            </a:pPr>
            <a:r>
              <a:rPr lang="en-IN" u="sng" spc="-55" dirty="0"/>
              <a:t>MODULE 3: TRAFFIC FLOW CONTROLLER</a:t>
            </a:r>
          </a:p>
        </p:txBody>
      </p:sp>
      <p:sp>
        <p:nvSpPr>
          <p:cNvPr id="5" name="Rectangle 1">
            <a:extLst>
              <a:ext uri="{FF2B5EF4-FFF2-40B4-BE49-F238E27FC236}">
                <a16:creationId xmlns:a16="http://schemas.microsoft.com/office/drawing/2014/main" id="{B4BECD60-6DC5-FFDE-0B9F-E41666BFEC41}"/>
              </a:ext>
            </a:extLst>
          </p:cNvPr>
          <p:cNvSpPr>
            <a:spLocks noChangeArrowheads="1"/>
          </p:cNvSpPr>
          <p:nvPr/>
        </p:nvSpPr>
        <p:spPr bwMode="auto">
          <a:xfrm>
            <a:off x="1752600" y="2133600"/>
            <a:ext cx="8382000"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Control traffic lights according to the optimized signal timings.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Continuously monitor traffic flow and adjust signals when required.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Handle emergency vehicle priority by providing faster green signals.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Ensure smooth traffic movement while minimizing congestion and delays.</a:t>
            </a:r>
          </a:p>
          <a:p>
            <a:pPr marL="342900" lvl="0" indent="-34290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37991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D3A54-41C9-F485-32D2-3404013293E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BF2C23E-C38A-1FBD-7E37-968758EEC6EE}"/>
              </a:ext>
            </a:extLst>
          </p:cNvPr>
          <p:cNvSpPr txBox="1">
            <a:spLocks noGrp="1"/>
          </p:cNvSpPr>
          <p:nvPr>
            <p:ph type="title"/>
          </p:nvPr>
        </p:nvSpPr>
        <p:spPr>
          <a:xfrm>
            <a:off x="-762000" y="685800"/>
            <a:ext cx="11353800" cy="1327686"/>
          </a:xfrm>
          <a:prstGeom prst="rect">
            <a:avLst/>
          </a:prstGeom>
        </p:spPr>
        <p:txBody>
          <a:bodyPr vert="horz" wrap="square" lIns="0" tIns="217566" rIns="0" bIns="0" rtlCol="0">
            <a:spAutoFit/>
          </a:bodyPr>
          <a:lstStyle/>
          <a:p>
            <a:pPr marL="2513965" algn="ctr">
              <a:lnSpc>
                <a:spcPct val="100000"/>
              </a:lnSpc>
              <a:spcBef>
                <a:spcPts val="100"/>
              </a:spcBef>
            </a:pPr>
            <a:r>
              <a:rPr lang="en-IN" u="sng" spc="-55" dirty="0"/>
              <a:t>MODULE 4: TRAFFIC MONITORING &amp; ALERT SYSTEM</a:t>
            </a:r>
          </a:p>
        </p:txBody>
      </p:sp>
      <p:sp>
        <p:nvSpPr>
          <p:cNvPr id="5" name="Rectangle 1">
            <a:extLst>
              <a:ext uri="{FF2B5EF4-FFF2-40B4-BE49-F238E27FC236}">
                <a16:creationId xmlns:a16="http://schemas.microsoft.com/office/drawing/2014/main" id="{7BD41C2F-6144-F790-4636-C8EE134B158E}"/>
              </a:ext>
            </a:extLst>
          </p:cNvPr>
          <p:cNvSpPr>
            <a:spLocks noChangeArrowheads="1"/>
          </p:cNvSpPr>
          <p:nvPr/>
        </p:nvSpPr>
        <p:spPr bwMode="auto">
          <a:xfrm>
            <a:off x="1527464" y="2362200"/>
            <a:ext cx="9067800"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Monitor the performance of traffic signals and overall traffic flow in real time.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Detect unusual conditions such as traffic jams, accidents, or signal malfunctions.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Generate alerts for traffic authorities when abnormal situations are identified.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Store traffic data and system logs for future analysis, reporting, and performance improvement.</a:t>
            </a:r>
          </a:p>
        </p:txBody>
      </p:sp>
    </p:spTree>
    <p:extLst>
      <p:ext uri="{BB962C8B-B14F-4D97-AF65-F5344CB8AC3E}">
        <p14:creationId xmlns:p14="http://schemas.microsoft.com/office/powerpoint/2010/main" val="294299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F0B1A-63D8-F150-ADF3-92BCF8061E1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5538348-D4DC-7D2B-52C9-62BE5D703787}"/>
              </a:ext>
            </a:extLst>
          </p:cNvPr>
          <p:cNvSpPr txBox="1">
            <a:spLocks noGrp="1"/>
          </p:cNvSpPr>
          <p:nvPr>
            <p:ph type="title"/>
          </p:nvPr>
        </p:nvSpPr>
        <p:spPr>
          <a:xfrm>
            <a:off x="-1752600" y="457200"/>
            <a:ext cx="6096000" cy="650578"/>
          </a:xfrm>
          <a:prstGeom prst="rect">
            <a:avLst/>
          </a:prstGeom>
        </p:spPr>
        <p:txBody>
          <a:bodyPr vert="horz" wrap="square" lIns="0" tIns="217566" rIns="0" bIns="0" rtlCol="0">
            <a:spAutoFit/>
          </a:bodyPr>
          <a:lstStyle/>
          <a:p>
            <a:pPr marL="2513965" algn="ctr">
              <a:lnSpc>
                <a:spcPct val="100000"/>
              </a:lnSpc>
              <a:spcBef>
                <a:spcPts val="100"/>
              </a:spcBef>
            </a:pPr>
            <a:r>
              <a:rPr lang="en-IN" sz="2800" u="sng" spc="-55" dirty="0"/>
              <a:t>LIMITATIONS</a:t>
            </a:r>
          </a:p>
        </p:txBody>
      </p:sp>
      <p:sp>
        <p:nvSpPr>
          <p:cNvPr id="5" name="Rectangle 1">
            <a:extLst>
              <a:ext uri="{FF2B5EF4-FFF2-40B4-BE49-F238E27FC236}">
                <a16:creationId xmlns:a16="http://schemas.microsoft.com/office/drawing/2014/main" id="{C680A11D-CEE7-B32A-71E1-C11F66F74A9F}"/>
              </a:ext>
            </a:extLst>
          </p:cNvPr>
          <p:cNvSpPr>
            <a:spLocks noChangeArrowheads="1"/>
          </p:cNvSpPr>
          <p:nvPr/>
        </p:nvSpPr>
        <p:spPr bwMode="auto">
          <a:xfrm>
            <a:off x="737755" y="1241891"/>
            <a:ext cx="105918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Accuracy depends on the quality of traffic sensors and cameras.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High installation and maintenance costs for smart infrastructure.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Network or power failures can affect system performance.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Less effective in areas without IoT-enabled traffic systems.</a:t>
            </a:r>
          </a:p>
        </p:txBody>
      </p:sp>
      <p:sp>
        <p:nvSpPr>
          <p:cNvPr id="7" name="TextBox 6">
            <a:extLst>
              <a:ext uri="{FF2B5EF4-FFF2-40B4-BE49-F238E27FC236}">
                <a16:creationId xmlns:a16="http://schemas.microsoft.com/office/drawing/2014/main" id="{5B4CE9B2-FF72-3F3F-99FB-7ABEF14B62D6}"/>
              </a:ext>
            </a:extLst>
          </p:cNvPr>
          <p:cNvSpPr txBox="1"/>
          <p:nvPr/>
        </p:nvSpPr>
        <p:spPr>
          <a:xfrm>
            <a:off x="1260764" y="3276600"/>
            <a:ext cx="6972300" cy="523220"/>
          </a:xfrm>
          <a:prstGeom prst="rect">
            <a:avLst/>
          </a:prstGeom>
          <a:noFill/>
        </p:spPr>
        <p:txBody>
          <a:bodyPr wrap="square">
            <a:spAutoFit/>
          </a:bodyPr>
          <a:lstStyle/>
          <a:p>
            <a:r>
              <a:rPr lang="en-IN" sz="2700" b="1" u="sng" spc="-55" dirty="0">
                <a:latin typeface="Times New Roman" panose="02020603050405020304" pitchFamily="18" charset="0"/>
                <a:cs typeface="Times New Roman" panose="02020603050405020304" pitchFamily="18" charset="0"/>
              </a:rPr>
              <a:t>FUTURE SCOPE</a:t>
            </a:r>
            <a:endParaRPr lang="en-IN" sz="2700"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A3756800-D9DA-C48C-0B33-46138F3D5E1A}"/>
              </a:ext>
            </a:extLst>
          </p:cNvPr>
          <p:cNvSpPr txBox="1"/>
          <p:nvPr/>
        </p:nvSpPr>
        <p:spPr>
          <a:xfrm>
            <a:off x="734291" y="4046449"/>
            <a:ext cx="10439400" cy="1569660"/>
          </a:xfrm>
          <a:prstGeom prst="rect">
            <a:avLst/>
          </a:prstGeom>
          <a:noFill/>
        </p:spPr>
        <p:txBody>
          <a:bodyPr wrap="square">
            <a:spAutoFit/>
          </a:bodyPr>
          <a:lstStyle/>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Integrate AI and Machine Learning for predictive traffic management.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Support V2I (Vehicle-to-Infrastructure) communication for connected vehicles.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Provide automatic priority for emergency vehicles.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Expand the system to coordinate multiple intersections in smart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409567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529B6-6DD9-4F14-68A6-08FD3C64934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EAC3DD0-0B01-891F-BC72-00B9259EF73E}"/>
              </a:ext>
            </a:extLst>
          </p:cNvPr>
          <p:cNvSpPr txBox="1">
            <a:spLocks noGrp="1"/>
          </p:cNvSpPr>
          <p:nvPr>
            <p:ph type="title"/>
          </p:nvPr>
        </p:nvSpPr>
        <p:spPr>
          <a:xfrm>
            <a:off x="-1066800" y="990600"/>
            <a:ext cx="11353800" cy="773688"/>
          </a:xfrm>
          <a:prstGeom prst="rect">
            <a:avLst/>
          </a:prstGeom>
        </p:spPr>
        <p:txBody>
          <a:bodyPr vert="horz" wrap="square" lIns="0" tIns="217566" rIns="0" bIns="0" rtlCol="0">
            <a:spAutoFit/>
          </a:bodyPr>
          <a:lstStyle/>
          <a:p>
            <a:pPr marL="2513965" algn="ctr">
              <a:lnSpc>
                <a:spcPct val="100000"/>
              </a:lnSpc>
              <a:spcBef>
                <a:spcPts val="100"/>
              </a:spcBef>
            </a:pPr>
            <a:r>
              <a:rPr lang="en-IN" u="sng" spc="-55" dirty="0"/>
              <a:t>RESULT</a:t>
            </a:r>
          </a:p>
        </p:txBody>
      </p:sp>
      <p:sp>
        <p:nvSpPr>
          <p:cNvPr id="5" name="Rectangle 1">
            <a:extLst>
              <a:ext uri="{FF2B5EF4-FFF2-40B4-BE49-F238E27FC236}">
                <a16:creationId xmlns:a16="http://schemas.microsoft.com/office/drawing/2014/main" id="{4E29AEC1-A6A1-9398-12E8-2BE213B0000D}"/>
              </a:ext>
            </a:extLst>
          </p:cNvPr>
          <p:cNvSpPr>
            <a:spLocks noChangeArrowheads="1"/>
          </p:cNvSpPr>
          <p:nvPr/>
        </p:nvSpPr>
        <p:spPr bwMode="auto">
          <a:xfrm>
            <a:off x="1524000" y="2204998"/>
            <a:ext cx="9369136"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Successfully collected and </a:t>
            </a:r>
            <a:r>
              <a:rPr lang="en-IN" sz="2800" dirty="0" err="1">
                <a:latin typeface="Times New Roman" panose="02020603050405020304" pitchFamily="18" charset="0"/>
                <a:cs typeface="Times New Roman" panose="02020603050405020304" pitchFamily="18" charset="0"/>
              </a:rPr>
              <a:t>analyzed</a:t>
            </a:r>
            <a:r>
              <a:rPr lang="en-IN" sz="2800" dirty="0">
                <a:latin typeface="Times New Roman" panose="02020603050405020304" pitchFamily="18" charset="0"/>
                <a:cs typeface="Times New Roman" panose="02020603050405020304" pitchFamily="18" charset="0"/>
              </a:rPr>
              <a:t> real-time traffic data. </a:t>
            </a:r>
          </a:p>
          <a:p>
            <a:pPr marL="342900" lvl="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Optimized signal timings based on traffic density. </a:t>
            </a:r>
          </a:p>
          <a:p>
            <a:pPr marL="342900" lvl="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Reduced vehicle waiting time and traffic congestion. </a:t>
            </a:r>
          </a:p>
          <a:p>
            <a:pPr marL="342900" lvl="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Improved traffic flow and intersection efficiency. </a:t>
            </a:r>
          </a:p>
          <a:p>
            <a:pPr marL="342900" lvl="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Demonstrated a scalable solution for future smart city traffic management. </a:t>
            </a:r>
          </a:p>
        </p:txBody>
      </p:sp>
    </p:spTree>
    <p:extLst>
      <p:ext uri="{BB962C8B-B14F-4D97-AF65-F5344CB8AC3E}">
        <p14:creationId xmlns:p14="http://schemas.microsoft.com/office/powerpoint/2010/main" val="30102791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2000" cy="6858000"/>
          </a:xfrm>
          <a:prstGeom prst="rect">
            <a:avLst/>
          </a:prstGeom>
        </p:spPr>
      </p:pic>
      <p:sp>
        <p:nvSpPr>
          <p:cNvPr id="5" name="TextBox 4">
            <a:extLst>
              <a:ext uri="{FF2B5EF4-FFF2-40B4-BE49-F238E27FC236}">
                <a16:creationId xmlns:a16="http://schemas.microsoft.com/office/drawing/2014/main" id="{44820AF4-1AAB-E9AB-B8AF-1EE42D530626}"/>
              </a:ext>
            </a:extLst>
          </p:cNvPr>
          <p:cNvSpPr txBox="1"/>
          <p:nvPr/>
        </p:nvSpPr>
        <p:spPr>
          <a:xfrm>
            <a:off x="3955029" y="2590800"/>
            <a:ext cx="184731" cy="923330"/>
          </a:xfrm>
          <a:prstGeom prst="rect">
            <a:avLst/>
          </a:prstGeom>
          <a:noFill/>
        </p:spPr>
        <p:txBody>
          <a:bodyPr wrap="none" rtlCol="0">
            <a:spAutoFit/>
          </a:bodyPr>
          <a:lstStyle/>
          <a:p>
            <a:endParaRPr lang="en-IN" sz="5400"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3156</TotalTime>
  <Words>778</Words>
  <Application>Microsoft Office PowerPoint</Application>
  <PresentationFormat>Widescreen</PresentationFormat>
  <Paragraphs>68</Paragraphs>
  <Slides>13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Times New Roman</vt:lpstr>
      <vt:lpstr>Wingdings</vt:lpstr>
      <vt:lpstr>Office Theme</vt:lpstr>
      <vt:lpstr>Smart Traffic Signal Optimization System</vt:lpstr>
      <vt:lpstr>PROBLEM STATEMENT</vt:lpstr>
      <vt:lpstr>ABSTRACT </vt:lpstr>
      <vt:lpstr>INTRODUCTION</vt:lpstr>
      <vt:lpstr>OBJECTIVE</vt:lpstr>
      <vt:lpstr>PowerPoint Presentation</vt:lpstr>
      <vt:lpstr>MODULE 1:TRAFFIC DATA COLLECTION</vt:lpstr>
      <vt:lpstr>MODULE 2:SIGNAL TIMING OPTIMIZER</vt:lpstr>
      <vt:lpstr>MODULE 3: TRAFFIC FLOW CONTROLLER</vt:lpstr>
      <vt:lpstr>MODULE 4: TRAFFIC MONITORING &amp; ALERT SYSTEM</vt:lpstr>
      <vt:lpstr>LIMITATIONS</vt:lpstr>
      <vt:lpstr>RESULT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numericals_method_ppt</dc:title>
  <dc:creator>RACHITHA</dc:creator>
  <cp:lastModifiedBy>Arthika Koduru</cp:lastModifiedBy>
  <cp:revision>36</cp:revision>
  <dcterms:created xsi:type="dcterms:W3CDTF">2025-08-12T03:37:59Z</dcterms:created>
  <dcterms:modified xsi:type="dcterms:W3CDTF">2026-08-02T16:20:28Z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2025-08-11T00:00:00Z</vt:filetime>
  </property>
  <property fmtid="{D5CDD505-2E9C-101B-9397-08002B2CF9AE}" pid="3" name="Creator">
    <vt:lpwstr>Keynote</vt:lpwstr>
  </property>
  <property fmtid="{D5CDD505-2E9C-101B-9397-08002B2CF9AE}" pid="4" name="LastSaved">
    <vt:filetime>2025-08-12T00:00:00Z</vt:filetime>
  </property>
  <property fmtid="{D5CDD505-2E9C-101B-9397-08002B2CF9AE}" pid="5" name="Producer">
    <vt:lpwstr>macOS Version 14.5 (Build 23F79) Quartz PDFContext</vt:lpwstr>
  </property>
</Properties>
</file>